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Average"/>
      <p:regular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8ECAD3-7819-4429-824C-0817E6D4CBEB}">
  <a:tblStyle styleId="{3F8ECAD3-7819-4429-824C-0817E6D4CB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A6F39C7-F170-4F80-81B1-F95876C43E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verage-regular.fntdata"/><Relationship Id="rId25" Type="http://schemas.openxmlformats.org/officeDocument/2006/relationships/slide" Target="slides/slide19.xml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0d3382fde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0d3382fd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0d3382fde_0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0d3382fd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0d3382fde_0_10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0d3382fde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0d3382fde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0d3382fd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0d3382fde_0_10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0d3382fde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c6f980f91_0_1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c6f980f9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0d3382fde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0d3382fd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0d3382fde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0d3382fd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0d3382fde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0d3382fd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0d3382fde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0d3382fde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0d3382fde_0_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0d3382fde_0_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0d3382fde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0d3382fd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0d3382fd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0d3382fd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Gender &amp; Crime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Padma Danturty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STATS 551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418275" y="8020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Understanding crime demographics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Crime prevention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</a:rPr>
              <a:t>The Department of Justice provides grants to “to conduct research; and to implement programs that improve the criminal, civil, and juvenile justice systems”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4" title="Screenshot 2025-12-15 at 6.13.48 PM.png"/>
          <p:cNvPicPr preferRelativeResize="0"/>
          <p:nvPr/>
        </p:nvPicPr>
        <p:blipFill rotWithShape="1">
          <a:blip r:embed="rId3">
            <a:alphaModFix/>
          </a:blip>
          <a:srcRect b="2969" l="0" r="0" t="0"/>
          <a:stretch/>
        </p:blipFill>
        <p:spPr>
          <a:xfrm>
            <a:off x="4993150" y="917875"/>
            <a:ext cx="3671251" cy="314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490250" y="526350"/>
            <a:ext cx="7064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/>
              <a:t>Project objective: </a:t>
            </a:r>
            <a:endParaRPr b="1" sz="4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Estimate+narrow+improve the underlying population parameter–proportion of crimes </a:t>
            </a:r>
            <a:r>
              <a:rPr lang="en" sz="4200"/>
              <a:t>committed</a:t>
            </a:r>
            <a:r>
              <a:rPr lang="en" sz="4200"/>
              <a:t> by women</a:t>
            </a:r>
            <a:endParaRPr sz="4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San Jose Arrests Dataset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71925"/>
            <a:ext cx="8520600" cy="15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Details ARRESTS and INCIDENTS (joined by INCIDENT #)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Keep SEX, RACE, AGE, INCIDENT TIME, DATE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Total rows = </a:t>
            </a:r>
            <a:r>
              <a:rPr lang="en" sz="2000"/>
              <a:t>134573 </a:t>
            </a:r>
            <a:endParaRPr sz="2000"/>
          </a:p>
        </p:txBody>
      </p:sp>
      <p:pic>
        <p:nvPicPr>
          <p:cNvPr id="78" name="Google Shape;78;p16" title="dfs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30200"/>
            <a:ext cx="8731300" cy="8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grpSp>
        <p:nvGrpSpPr>
          <p:cNvPr id="84" name="Google Shape;84;p17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85" name="Google Shape;85;p17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7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One Parameter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7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Conjugate Prior (closed form)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MCMC in Stan with Hyperparameter Search</a:t>
            </a:r>
            <a:endParaRPr sz="1600"/>
          </a:p>
        </p:txBody>
      </p:sp>
      <p:grpSp>
        <p:nvGrpSpPr>
          <p:cNvPr id="89" name="Google Shape;89;p17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90" name="Google Shape;90;p17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7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Hierarchical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3" name="Google Shape;93;p17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Hierarchy on Race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Hierarchy on Age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Hierarchy on Time (hourly)</a:t>
            </a:r>
            <a:endParaRPr sz="1600"/>
          </a:p>
        </p:txBody>
      </p:sp>
      <p:grpSp>
        <p:nvGrpSpPr>
          <p:cNvPr id="94" name="Google Shape;94;p17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95" name="Google Shape;95;p17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7"/>
          <p:cNvSpPr txBox="1"/>
          <p:nvPr>
            <p:ph idx="4294967295" type="body"/>
          </p:nvPr>
        </p:nvSpPr>
        <p:spPr>
          <a:xfrm>
            <a:off x="6272475" y="1304875"/>
            <a:ext cx="26289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Sequential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17"/>
          <p:cNvSpPr txBox="1"/>
          <p:nvPr>
            <p:ph idx="4294967295" type="body"/>
          </p:nvPr>
        </p:nvSpPr>
        <p:spPr>
          <a:xfrm>
            <a:off x="6212550" y="1850300"/>
            <a:ext cx="25524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Sequential Bayes by year (2015 -&gt; 2016 … )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Parameter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Conjugacy 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Prior: Beta(2,7) **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Data: Binomial(134573, 0.2354)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Posterior</a:t>
            </a:r>
            <a:r>
              <a:rPr lang="en" sz="1600"/>
              <a:t>:</a:t>
            </a:r>
            <a:r>
              <a:rPr b="1" lang="en" sz="1600"/>
              <a:t> Beta(2 + 31683, 7 + 134573 - 31683)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** using National Bureau of Justice Statistics (1999)</a:t>
            </a:r>
            <a:endParaRPr sz="1600"/>
          </a:p>
        </p:txBody>
      </p:sp>
      <p:sp>
        <p:nvSpPr>
          <p:cNvPr id="105" name="Google Shape;105;p18"/>
          <p:cNvSpPr txBox="1"/>
          <p:nvPr>
            <p:ph idx="2" type="body"/>
          </p:nvPr>
        </p:nvSpPr>
        <p:spPr>
          <a:xfrm>
            <a:off x="4832400" y="1152475"/>
            <a:ext cx="3999900" cy="15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MCMC Hyperparameter Search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Use Stan to test different prior values with similar expected values </a:t>
            </a:r>
            <a:endParaRPr sz="1600"/>
          </a:p>
        </p:txBody>
      </p:sp>
      <p:graphicFrame>
        <p:nvGraphicFramePr>
          <p:cNvPr id="106" name="Google Shape;106;p18"/>
          <p:cNvGraphicFramePr/>
          <p:nvPr/>
        </p:nvGraphicFramePr>
        <p:xfrm>
          <a:off x="5546392" y="276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{3F8ECAD3-7819-4429-824C-0817E6D4CBEB}</a:tableStyleId>
              </a:tblPr>
              <a:tblGrid>
                <a:gridCol w="908650"/>
                <a:gridCol w="934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α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β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700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Parameter Checks</a:t>
            </a:r>
            <a:endParaRPr/>
          </a:p>
        </p:txBody>
      </p:sp>
      <p:pic>
        <p:nvPicPr>
          <p:cNvPr id="112" name="Google Shape;112;p19" title="closedpp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013" y="1095075"/>
            <a:ext cx="6325973" cy="388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Parameter Checks</a:t>
            </a:r>
            <a:endParaRPr/>
          </a:p>
        </p:txBody>
      </p:sp>
      <p:pic>
        <p:nvPicPr>
          <p:cNvPr id="118" name="Google Shape;118;p20" title="hyperparam_resul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25" y="1905725"/>
            <a:ext cx="8735123" cy="164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</a:t>
            </a:r>
            <a:endParaRPr/>
          </a:p>
        </p:txBody>
      </p:sp>
      <p:grpSp>
        <p:nvGrpSpPr>
          <p:cNvPr id="124" name="Google Shape;124;p21"/>
          <p:cNvGrpSpPr/>
          <p:nvPr/>
        </p:nvGrpSpPr>
        <p:grpSpPr>
          <a:xfrm>
            <a:off x="424825" y="1253973"/>
            <a:ext cx="8294372" cy="799416"/>
            <a:chOff x="424813" y="1177875"/>
            <a:chExt cx="8294372" cy="849900"/>
          </a:xfrm>
        </p:grpSpPr>
        <p:sp>
          <p:nvSpPr>
            <p:cNvPr id="125" name="Google Shape;125;p21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1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21"/>
          <p:cNvSpPr txBox="1"/>
          <p:nvPr>
            <p:ph idx="4294967295" type="body"/>
          </p:nvPr>
        </p:nvSpPr>
        <p:spPr>
          <a:xfrm>
            <a:off x="539675" y="12542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Decade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21"/>
          <p:cNvSpPr txBox="1"/>
          <p:nvPr>
            <p:ph idx="4294967295" type="body"/>
          </p:nvPr>
        </p:nvSpPr>
        <p:spPr>
          <a:xfrm>
            <a:off x="3480453" y="1254158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i="1" lang="en">
                <a:solidFill>
                  <a:schemeClr val="lt1"/>
                </a:solidFill>
              </a:rPr>
              <a:t>AGE -&gt; “DECADE” </a:t>
            </a:r>
            <a:r>
              <a:rPr lang="en">
                <a:solidFill>
                  <a:schemeClr val="lt1"/>
                </a:solidFill>
              </a:rPr>
              <a:t>with</a:t>
            </a:r>
            <a:r>
              <a:rPr i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floor(AGE / 10)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Hierarchy</a:t>
            </a:r>
            <a:r>
              <a:rPr lang="en">
                <a:solidFill>
                  <a:schemeClr val="lt1"/>
                </a:solidFill>
              </a:rPr>
              <a:t> on </a:t>
            </a:r>
            <a:r>
              <a:rPr i="1" lang="en">
                <a:solidFill>
                  <a:schemeClr val="lt1"/>
                </a:solidFill>
              </a:rPr>
              <a:t>DECADE</a:t>
            </a:r>
            <a:endParaRPr i="1">
              <a:solidFill>
                <a:schemeClr val="lt1"/>
              </a:solidFill>
            </a:endParaRPr>
          </a:p>
        </p:txBody>
      </p:sp>
      <p:grpSp>
        <p:nvGrpSpPr>
          <p:cNvPr id="129" name="Google Shape;129;p21"/>
          <p:cNvGrpSpPr/>
          <p:nvPr/>
        </p:nvGrpSpPr>
        <p:grpSpPr>
          <a:xfrm>
            <a:off x="424825" y="2127339"/>
            <a:ext cx="8294360" cy="799416"/>
            <a:chOff x="424813" y="2075689"/>
            <a:chExt cx="8294360" cy="849900"/>
          </a:xfrm>
        </p:grpSpPr>
        <p:sp>
          <p:nvSpPr>
            <p:cNvPr id="130" name="Google Shape;130;p21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1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21"/>
          <p:cNvSpPr txBox="1"/>
          <p:nvPr>
            <p:ph idx="4294967295" type="body"/>
          </p:nvPr>
        </p:nvSpPr>
        <p:spPr>
          <a:xfrm>
            <a:off x="539675" y="212745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Race Group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" name="Google Shape;133;p21"/>
          <p:cNvSpPr txBox="1"/>
          <p:nvPr>
            <p:ph idx="4294967295" type="body"/>
          </p:nvPr>
        </p:nvSpPr>
        <p:spPr>
          <a:xfrm>
            <a:off x="3480453" y="2127465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RACE CODE -&gt; RACE -&gt; RACE GROUP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Hierarchy on </a:t>
            </a:r>
            <a:r>
              <a:rPr i="1" lang="en">
                <a:solidFill>
                  <a:schemeClr val="lt1"/>
                </a:solidFill>
              </a:rPr>
              <a:t>RACE GROUP</a:t>
            </a:r>
            <a:endParaRPr i="1">
              <a:solidFill>
                <a:schemeClr val="lt1"/>
              </a:solidFill>
            </a:endParaRPr>
          </a:p>
        </p:txBody>
      </p:sp>
      <p:grpSp>
        <p:nvGrpSpPr>
          <p:cNvPr id="134" name="Google Shape;134;p21"/>
          <p:cNvGrpSpPr/>
          <p:nvPr/>
        </p:nvGrpSpPr>
        <p:grpSpPr>
          <a:xfrm>
            <a:off x="424825" y="3000705"/>
            <a:ext cx="8294360" cy="799447"/>
            <a:chOff x="424813" y="2974405"/>
            <a:chExt cx="8294360" cy="849933"/>
          </a:xfrm>
        </p:grpSpPr>
        <p:sp>
          <p:nvSpPr>
            <p:cNvPr id="135" name="Google Shape;135;p21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21"/>
          <p:cNvSpPr txBox="1"/>
          <p:nvPr>
            <p:ph idx="4294967295" type="body"/>
          </p:nvPr>
        </p:nvSpPr>
        <p:spPr>
          <a:xfrm>
            <a:off x="539675" y="3000775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Time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21"/>
          <p:cNvSpPr txBox="1"/>
          <p:nvPr>
            <p:ph idx="4294967295" type="body"/>
          </p:nvPr>
        </p:nvSpPr>
        <p:spPr>
          <a:xfrm>
            <a:off x="3480453" y="3004317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TIME -&gt; TIME24HR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Hierarchy on </a:t>
            </a:r>
            <a:r>
              <a:rPr i="1" lang="en">
                <a:solidFill>
                  <a:schemeClr val="lt1"/>
                </a:solidFill>
              </a:rPr>
              <a:t>TIME24HR</a:t>
            </a:r>
            <a:endParaRPr i="1">
              <a:solidFill>
                <a:schemeClr val="lt1"/>
              </a:solidFill>
            </a:endParaRPr>
          </a:p>
        </p:txBody>
      </p:sp>
      <p:sp>
        <p:nvSpPr>
          <p:cNvPr id="139" name="Google Shape;139;p21"/>
          <p:cNvSpPr txBox="1"/>
          <p:nvPr>
            <p:ph idx="4294967295" type="body"/>
          </p:nvPr>
        </p:nvSpPr>
        <p:spPr>
          <a:xfrm>
            <a:off x="539675" y="38741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4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Checks</a:t>
            </a:r>
            <a:endParaRPr/>
          </a:p>
        </p:txBody>
      </p:sp>
      <p:pic>
        <p:nvPicPr>
          <p:cNvPr id="145" name="Google Shape;145;p22" title="decadehieronracepp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337" y="1242528"/>
            <a:ext cx="4334627" cy="2658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 title="racehierppcondeca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1625" y="1168745"/>
            <a:ext cx="4334625" cy="267293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4694413" y="4146100"/>
            <a:ext cx="37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Using </a:t>
            </a:r>
            <a:r>
              <a:rPr i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RACE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_</a:t>
            </a:r>
            <a:r>
              <a:rPr i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GROUP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= “African American”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311700" y="4284700"/>
            <a:ext cx="378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Using </a:t>
            </a:r>
            <a:r>
              <a:rPr i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DECADE</a:t>
            </a:r>
            <a:r>
              <a:rPr i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= 5 (50-60)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Checks</a:t>
            </a:r>
            <a:endParaRPr/>
          </a:p>
        </p:txBody>
      </p:sp>
      <p:pic>
        <p:nvPicPr>
          <p:cNvPr id="154" name="Google Shape;154;p23" title="timeondeca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951" y="1525500"/>
            <a:ext cx="4054325" cy="25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 title="timeonr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525500"/>
            <a:ext cx="3986367" cy="25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/>
          <p:nvPr/>
        </p:nvSpPr>
        <p:spPr>
          <a:xfrm>
            <a:off x="1857100" y="4404550"/>
            <a:ext cx="56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Using </a:t>
            </a:r>
            <a:r>
              <a:rPr i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TIME24HR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= 14 (2-3pm)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Hierarchical on Time</a:t>
            </a:r>
            <a:endParaRPr/>
          </a:p>
        </p:txBody>
      </p:sp>
      <p:graphicFrame>
        <p:nvGraphicFramePr>
          <p:cNvPr id="162" name="Google Shape;162;p24"/>
          <p:cNvGraphicFramePr/>
          <p:nvPr/>
        </p:nvGraphicFramePr>
        <p:xfrm>
          <a:off x="1883288" y="12531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{FA6F39C7-F170-4F80-81B1-F95876C43E24}</a:tableStyleId>
              </a:tblPr>
              <a:tblGrid>
                <a:gridCol w="1331775"/>
                <a:gridCol w="1331775"/>
                <a:gridCol w="1331775"/>
                <a:gridCol w="1331775"/>
                <a:gridCol w="1331775"/>
              </a:tblGrid>
              <a:tr h="36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2015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2016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2017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2019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2020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904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</a:rPr>
                        <a:t>Input: Beta(2, 7) prior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>
                          <a:alpha val="0"/>
                        </a:schemeClr>
                      </a:solidFill>
                      <a:prstDash val="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dash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descr="Timeline background shape" id="163" name="Google Shape;163;p24"/>
          <p:cNvSpPr/>
          <p:nvPr/>
        </p:nvSpPr>
        <p:spPr>
          <a:xfrm>
            <a:off x="2429900" y="1768823"/>
            <a:ext cx="1789800" cy="572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Output/input: 24 </a:t>
            </a:r>
            <a:r>
              <a:rPr lang="en"/>
              <a:t>θ block </a:t>
            </a:r>
            <a:r>
              <a:rPr lang="en"/>
              <a:t>posteriors</a:t>
            </a:r>
            <a:endParaRPr/>
          </a:p>
        </p:txBody>
      </p:sp>
      <p:sp>
        <p:nvSpPr>
          <p:cNvPr descr="Timeline background shape" id="164" name="Google Shape;164;p24"/>
          <p:cNvSpPr/>
          <p:nvPr/>
        </p:nvSpPr>
        <p:spPr>
          <a:xfrm>
            <a:off x="311700" y="1768823"/>
            <a:ext cx="2015700" cy="572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Input: shared Beta(2,7) mean prior</a:t>
            </a:r>
            <a:endParaRPr/>
          </a:p>
        </p:txBody>
      </p:sp>
      <p:sp>
        <p:nvSpPr>
          <p:cNvPr descr="Timeline background shape" id="165" name="Google Shape;165;p24"/>
          <p:cNvSpPr/>
          <p:nvPr/>
        </p:nvSpPr>
        <p:spPr>
          <a:xfrm>
            <a:off x="3797700" y="2417114"/>
            <a:ext cx="1789800" cy="572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Output/input: 24 θ block posteriors</a:t>
            </a:r>
            <a:endParaRPr/>
          </a:p>
        </p:txBody>
      </p:sp>
      <p:sp>
        <p:nvSpPr>
          <p:cNvPr descr="Timeline background shape" id="166" name="Google Shape;166;p24"/>
          <p:cNvSpPr/>
          <p:nvPr/>
        </p:nvSpPr>
        <p:spPr>
          <a:xfrm>
            <a:off x="5039100" y="3084831"/>
            <a:ext cx="1789800" cy="572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Output/input: 24 θ block posteriors</a:t>
            </a:r>
            <a:endParaRPr/>
          </a:p>
        </p:txBody>
      </p:sp>
      <p:sp>
        <p:nvSpPr>
          <p:cNvPr descr="Timeline background shape" id="167" name="Google Shape;167;p24"/>
          <p:cNvSpPr/>
          <p:nvPr/>
        </p:nvSpPr>
        <p:spPr>
          <a:xfrm>
            <a:off x="6251300" y="3724962"/>
            <a:ext cx="1789800" cy="572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Output/input: 24 θ block posteriors</a:t>
            </a:r>
            <a:endParaRPr/>
          </a:p>
        </p:txBody>
      </p:sp>
      <p:sp>
        <p:nvSpPr>
          <p:cNvPr descr="Timeline background shape" id="168" name="Google Shape;168;p24"/>
          <p:cNvSpPr/>
          <p:nvPr/>
        </p:nvSpPr>
        <p:spPr>
          <a:xfrm>
            <a:off x="7416075" y="4334975"/>
            <a:ext cx="1636200" cy="5727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θ block posteriors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Sequential Hierarchical Checks</a:t>
            </a:r>
            <a:endParaRPr/>
          </a:p>
        </p:txBody>
      </p:sp>
      <p:pic>
        <p:nvPicPr>
          <p:cNvPr id="174" name="Google Shape;174;p25" title="seqtimeondeca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124" y="1501250"/>
            <a:ext cx="4130175" cy="26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 title="seqtimeonra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950" y="1501250"/>
            <a:ext cx="403263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/>
        </p:nvSpPr>
        <p:spPr>
          <a:xfrm>
            <a:off x="1857100" y="4355925"/>
            <a:ext cx="56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Using </a:t>
            </a:r>
            <a:r>
              <a:rPr i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TIME24HR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= 14 (2-3pm)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223125" y="231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aphicFrame>
        <p:nvGraphicFramePr>
          <p:cNvPr id="182" name="Google Shape;182;p26"/>
          <p:cNvGraphicFramePr/>
          <p:nvPr/>
        </p:nvGraphicFramePr>
        <p:xfrm>
          <a:off x="223125" y="88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{3F8ECAD3-7819-4429-824C-0817E6D4CBEB}</a:tableStyleId>
              </a:tblPr>
              <a:tblGrid>
                <a:gridCol w="2828325"/>
                <a:gridCol w="1640400"/>
                <a:gridCol w="1330000"/>
                <a:gridCol w="1230450"/>
                <a:gridCol w="1491425"/>
              </a:tblGrid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Elapsed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Runtime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ELP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D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_LOO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P_LOO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LOOIC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Closed Form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0.042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MCMC (2,7)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92.559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-7.592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1.287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15.185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MCMC(10, 45)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92.559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-7.031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0.711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14.063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MCMC(22, 78)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92.559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-7.462,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1.131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14.924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MCMC(154, 700)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92.559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-7.691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1.349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15.382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Hierarchical DECADE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0.516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-51.334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8.257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102.668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Hierarchical RACE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0.330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-33.914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3.877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67.828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Hierarchical TIME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0.591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-129.599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17.679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259.197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Sequential + Hierarchical TIME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2.829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-110.699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18.902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221.398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Results–2021</a:t>
            </a:r>
            <a:endParaRPr/>
          </a:p>
        </p:txBody>
      </p:sp>
      <p:pic>
        <p:nvPicPr>
          <p:cNvPr id="188" name="Google Shape;188;p27" title="oneparampredicti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50" y="1677422"/>
            <a:ext cx="4403174" cy="2651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 title="racehierpr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646563"/>
            <a:ext cx="4403173" cy="271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1225100" y="1234825"/>
            <a:ext cx="210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One Parameter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1" name="Google Shape;191;p27"/>
          <p:cNvSpPr txBox="1"/>
          <p:nvPr/>
        </p:nvSpPr>
        <p:spPr>
          <a:xfrm>
            <a:off x="5558425" y="1101300"/>
            <a:ext cx="25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Hierarchical (</a:t>
            </a:r>
            <a:r>
              <a:rPr i="1"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RACE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)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Results–2021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8" title="seqpred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875" y="1152475"/>
            <a:ext cx="6508680" cy="3903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Results–2021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9" title="seqpr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175" y="1017725"/>
            <a:ext cx="6515952" cy="399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311700" y="1152475"/>
            <a:ext cx="773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Hierarchical + Sequential model had best predictive performance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Best model despite LOO estimates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Can predict with a good degree of certainty the population of female offenders -&gt; invest resources into women-specific shelters, programs, rehabilitation centers etc.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Many drug related offenses (incident type)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Issues: very few observations in some category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(UNKNOWN - RACE, 0-10 or 80-90 AGES)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Include different priors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Incorporate more interactions between predictors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Incorporate spatial data 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